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1134170"/>
            <a:ext cx="1421011" cy="2540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3" name="Text: биография · 1707–1778"/>
          <p:cNvSpPr txBox="1"/>
          <p:nvPr/>
        </p:nvSpPr>
        <p:spPr>
          <a:xfrm>
            <a:off x="876300" y="1172270"/>
            <a:ext cx="1192411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32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биография · 1707–1778</a:t>
            </a:r>
            <a:endParaRPr lang="en-US" sz="800" dirty="0"/>
          </a:p>
        </p:txBody>
      </p:sp>
      <p:sp>
        <p:nvSpPr>
          <p:cNvPr id="4" name="Text: Карл Линней — отец систематики"/>
          <p:cNvSpPr txBox="1"/>
          <p:nvPr/>
        </p:nvSpPr>
        <p:spPr>
          <a:xfrm>
            <a:off x="762000" y="1639689"/>
            <a:ext cx="5165626" cy="11733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spc="-88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Карл Линней</a:t>
            </a:r>
            <a:br>
              <a:rPr lang="en-US" sz="4400"/>
            </a:br>
            <a:r>
              <a:rPr lang="en-US" sz="4400" b="1" spc="-88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— отец систематики</a:t>
            </a:r>
            <a:endParaRPr lang="en-US" sz="4400" dirty="0"/>
          </a:p>
        </p:txBody>
      </p:sp>
      <p:sp>
        <p:nvSpPr>
          <p:cNvPr id="5" name="Text: Шведский учёный, который навёл порядок в"/>
          <p:cNvSpPr txBox="1"/>
          <p:nvPr/>
        </p:nvSpPr>
        <p:spPr>
          <a:xfrm>
            <a:off x="762000" y="2898080"/>
            <a:ext cx="5324673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Шведский учёный, который навёл порядок во всём живом мире.</a:t>
            </a:r>
            <a:endParaRPr lang="en-US" sz="1400" dirty="0"/>
          </a:p>
        </p:txBody>
      </p:sp>
      <p:sp>
        <p:nvSpPr>
          <p:cNvPr id="6" name="Rounded Rectangle"/>
          <p:cNvSpPr/>
          <p:nvPr/>
        </p:nvSpPr>
        <p:spPr>
          <a:xfrm>
            <a:off x="765175" y="3364805"/>
            <a:ext cx="1898650" cy="2355850"/>
          </a:xfrm>
          <a:prstGeom prst="roundRect">
            <a:avLst>
              <a:gd name="adj" fmla="val 7860"/>
            </a:avLst>
          </a:prstGeom>
          <a:noFill/>
          <a:ln w="6350" cap="flat" cmpd="sng" algn="ctr">
            <a:solidFill>
              <a:srgbClr val="E8EAED"/>
            </a:solidFill>
            <a:miter lim="800000"/>
          </a:ln>
        </p:spPr>
      </p:sp>
      <p:pic>
        <p:nvPicPr>
          <p:cNvPr id="7" name="Image: Портрет Карла Линнея"/>
          <p:cNvPicPr>
            <a:picLocks noChangeAspect="1"/>
          </p:cNvPicPr>
          <p:nvPr/>
        </p:nvPicPr>
        <p:blipFill>
          <a:blip r:embed="rId2"/>
          <a:srcRect l="1046" t="0" r="1046" b="0"/>
          <a:stretch>
            <a:fillRect/>
          </a:stretch>
        </p:blipFill>
        <p:spPr>
          <a:xfrm>
            <a:off x="768350" y="3367980"/>
            <a:ext cx="1892300" cy="23495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1899245"/>
            <a:ext cx="987127" cy="2540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</p:sp>
      <p:sp>
        <p:nvSpPr>
          <p:cNvPr id="3" name="Text: его биография"/>
          <p:cNvSpPr txBox="1"/>
          <p:nvPr/>
        </p:nvSpPr>
        <p:spPr>
          <a:xfrm>
            <a:off x="876300" y="1937345"/>
            <a:ext cx="758527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32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его биография</a:t>
            </a:r>
            <a:endParaRPr lang="en-US" sz="800" dirty="0"/>
          </a:p>
        </p:txBody>
      </p:sp>
      <p:sp>
        <p:nvSpPr>
          <p:cNvPr id="4" name="Text: Путь Карла Линнея"/>
          <p:cNvSpPr txBox="1"/>
          <p:nvPr/>
        </p:nvSpPr>
        <p:spPr>
          <a:xfrm>
            <a:off x="762000" y="2356445"/>
            <a:ext cx="2893219" cy="3492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Путь Карла Линнея</a:t>
            </a:r>
            <a:endParaRPr lang="en-US" sz="2500" dirty="0"/>
          </a:p>
        </p:txBody>
      </p:sp>
      <p:sp>
        <p:nvSpPr>
          <p:cNvPr id="5" name="Rounded Rectangle"/>
          <p:cNvSpPr/>
          <p:nvPr/>
        </p:nvSpPr>
        <p:spPr>
          <a:xfrm>
            <a:off x="765175" y="2835870"/>
            <a:ext cx="1708150" cy="2119610"/>
          </a:xfrm>
          <a:prstGeom prst="roundRect">
            <a:avLst>
              <a:gd name="adj" fmla="val 8736"/>
            </a:avLst>
          </a:prstGeom>
          <a:noFill/>
          <a:ln w="6350" cap="flat" cmpd="sng" algn="ctr">
            <a:solidFill>
              <a:srgbClr val="E8EAED"/>
            </a:solidFill>
            <a:miter lim="800000"/>
          </a:ln>
        </p:spPr>
      </p:sp>
      <p:pic>
        <p:nvPicPr>
          <p:cNvPr id="6" name="Image: Портрет молодого Линнея"/>
          <p:cNvPicPr>
            <a:picLocks noChangeAspect="1"/>
          </p:cNvPicPr>
          <p:nvPr/>
        </p:nvPicPr>
        <p:blipFill>
          <a:blip r:embed="rId2"/>
          <a:srcRect l="716" t="0" r="716" b="0"/>
          <a:stretch>
            <a:fillRect/>
          </a:stretch>
        </p:blipFill>
        <p:spPr>
          <a:xfrm>
            <a:off x="768350" y="2839045"/>
            <a:ext cx="1701800" cy="2113260"/>
          </a:xfrm>
          <a:prstGeom prst="rect">
            <a:avLst/>
          </a:prstGeom>
          <a:ln>
            <a:noFill/>
          </a:ln>
        </p:spPr>
      </p:pic>
      <p:sp>
        <p:nvSpPr>
          <p:cNvPr id="7" name="Rounded Rectangle"/>
          <p:cNvSpPr/>
          <p:nvPr/>
        </p:nvSpPr>
        <p:spPr>
          <a:xfrm>
            <a:off x="2708275" y="2896890"/>
            <a:ext cx="8718550" cy="427930"/>
          </a:xfrm>
          <a:prstGeom prst="roundRect">
            <a:avLst>
              <a:gd name="adj" fmla="val 28936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8" name="Rounded Rectangle"/>
          <p:cNvSpPr/>
          <p:nvPr/>
        </p:nvSpPr>
        <p:spPr>
          <a:xfrm>
            <a:off x="2838450" y="3047305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9" name="Text: Родился 23 мая 1707 года в Швеции, в сем"/>
          <p:cNvSpPr txBox="1"/>
          <p:nvPr/>
        </p:nvSpPr>
        <p:spPr>
          <a:xfrm>
            <a:off x="3067050" y="2986425"/>
            <a:ext cx="4071144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Родился 23 мая 1707 года в Швеции, в семье пастора.</a:t>
            </a:r>
            <a:endParaRPr lang="en-US" sz="1300" dirty="0"/>
          </a:p>
        </p:txBody>
      </p:sp>
      <p:sp>
        <p:nvSpPr>
          <p:cNvPr id="10" name="Rounded Rectangle"/>
          <p:cNvSpPr/>
          <p:nvPr/>
        </p:nvSpPr>
        <p:spPr>
          <a:xfrm>
            <a:off x="2708275" y="3420070"/>
            <a:ext cx="8718550" cy="427930"/>
          </a:xfrm>
          <a:prstGeom prst="roundRect">
            <a:avLst>
              <a:gd name="adj" fmla="val 28936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1" name="Rounded Rectangle"/>
          <p:cNvSpPr/>
          <p:nvPr/>
        </p:nvSpPr>
        <p:spPr>
          <a:xfrm>
            <a:off x="2838450" y="3570486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34A853"/>
          </a:solidFill>
          <a:ln>
            <a:noFill/>
          </a:ln>
        </p:spPr>
      </p:sp>
      <p:sp>
        <p:nvSpPr>
          <p:cNvPr id="12" name="Text: С детства любил растения, его звали «мал"/>
          <p:cNvSpPr txBox="1"/>
          <p:nvPr/>
        </p:nvSpPr>
        <p:spPr>
          <a:xfrm>
            <a:off x="3067050" y="3509605"/>
            <a:ext cx="4491434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С детства любил растения, его звали «маленький ботаник».</a:t>
            </a:r>
            <a:endParaRPr lang="en-US" sz="1300" dirty="0"/>
          </a:p>
        </p:txBody>
      </p:sp>
      <p:sp>
        <p:nvSpPr>
          <p:cNvPr id="13" name="Rounded Rectangle"/>
          <p:cNvSpPr/>
          <p:nvPr/>
        </p:nvSpPr>
        <p:spPr>
          <a:xfrm>
            <a:off x="2708275" y="3943251"/>
            <a:ext cx="8718550" cy="427930"/>
          </a:xfrm>
          <a:prstGeom prst="roundRect">
            <a:avLst>
              <a:gd name="adj" fmla="val 28936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4" name="Rounded Rectangle"/>
          <p:cNvSpPr/>
          <p:nvPr/>
        </p:nvSpPr>
        <p:spPr>
          <a:xfrm>
            <a:off x="2838450" y="4093666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15" name="Text: Учился на врача и ботаника в Лунде и Упс"/>
          <p:cNvSpPr txBox="1"/>
          <p:nvPr/>
        </p:nvSpPr>
        <p:spPr>
          <a:xfrm>
            <a:off x="3067050" y="4032786"/>
            <a:ext cx="3495675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Учился на врача и ботаника в Лунде и Упсале.</a:t>
            </a:r>
            <a:endParaRPr lang="en-US" sz="1300" dirty="0"/>
          </a:p>
        </p:txBody>
      </p:sp>
      <p:sp>
        <p:nvSpPr>
          <p:cNvPr id="16" name="Rounded Rectangle"/>
          <p:cNvSpPr/>
          <p:nvPr/>
        </p:nvSpPr>
        <p:spPr>
          <a:xfrm>
            <a:off x="2708275" y="4466431"/>
            <a:ext cx="8718550" cy="427930"/>
          </a:xfrm>
          <a:prstGeom prst="roundRect">
            <a:avLst>
              <a:gd name="adj" fmla="val 28936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7" name="Rounded Rectangle"/>
          <p:cNvSpPr/>
          <p:nvPr/>
        </p:nvSpPr>
        <p:spPr>
          <a:xfrm>
            <a:off x="2838450" y="4616847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FBBC04"/>
          </a:solidFill>
          <a:ln>
            <a:noFill/>
          </a:ln>
        </p:spPr>
      </p:sp>
      <p:sp>
        <p:nvSpPr>
          <p:cNvPr id="18" name="Text: В 1735 году стал доктором медицины в Гол"/>
          <p:cNvSpPr txBox="1"/>
          <p:nvPr/>
        </p:nvSpPr>
        <p:spPr>
          <a:xfrm>
            <a:off x="3067050" y="4555966"/>
            <a:ext cx="3860899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В 1735 году стал доктором медицины в Голландии.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2205335"/>
            <a:ext cx="1152525" cy="25400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</p:sp>
      <p:sp>
        <p:nvSpPr>
          <p:cNvPr id="3" name="Text: главное открытие"/>
          <p:cNvSpPr txBox="1"/>
          <p:nvPr/>
        </p:nvSpPr>
        <p:spPr>
          <a:xfrm>
            <a:off x="876300" y="2243435"/>
            <a:ext cx="923925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32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главное открытие</a:t>
            </a:r>
            <a:endParaRPr lang="en-US" sz="800" dirty="0"/>
          </a:p>
        </p:txBody>
      </p:sp>
      <p:sp>
        <p:nvSpPr>
          <p:cNvPr id="4" name="Text: Двойные названия"/>
          <p:cNvSpPr txBox="1"/>
          <p:nvPr/>
        </p:nvSpPr>
        <p:spPr>
          <a:xfrm>
            <a:off x="762000" y="2649835"/>
            <a:ext cx="2854027" cy="3492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Двойные названия</a:t>
            </a:r>
            <a:endParaRPr lang="en-US" sz="2500" dirty="0"/>
          </a:p>
        </p:txBody>
      </p:sp>
      <p:sp>
        <p:nvSpPr>
          <p:cNvPr id="5" name="Text: Линней дал каждому виду  два слова : сна"/>
          <p:cNvSpPr txBox="1"/>
          <p:nvPr/>
        </p:nvSpPr>
        <p:spPr>
          <a:xfrm>
            <a:off x="762000" y="3097510"/>
            <a:ext cx="8250932" cy="5143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Линней дал каждому виду </a:t>
            </a:r>
            <a:r>
              <a:rPr lang="en-US" sz="1350" b="1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два слова</a:t>
            </a:r>
            <a:r>
              <a:rPr lang="en-US" sz="135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: сначала род, потом вид. Теперь учёные всех стран понимают друг</a:t>
            </a:r>
            <a:br>
              <a:rPr lang="en-US" sz="1350"/>
            </a:br>
            <a:r>
              <a:rPr lang="en-US" sz="135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друга.</a:t>
            </a:r>
            <a:endParaRPr lang="en-US" sz="1350" dirty="0"/>
          </a:p>
        </p:txBody>
      </p:sp>
      <p:sp>
        <p:nvSpPr>
          <p:cNvPr id="6" name="Rounded Rectangle"/>
          <p:cNvSpPr/>
          <p:nvPr/>
        </p:nvSpPr>
        <p:spPr>
          <a:xfrm>
            <a:off x="765175" y="3808710"/>
            <a:ext cx="3464917" cy="840680"/>
          </a:xfrm>
          <a:prstGeom prst="roundRect">
            <a:avLst>
              <a:gd name="adj" fmla="val 17751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7" name="Text: Felis catus"/>
          <p:cNvSpPr txBox="1"/>
          <p:nvPr/>
        </p:nvSpPr>
        <p:spPr>
          <a:xfrm>
            <a:off x="933450" y="3951585"/>
            <a:ext cx="760016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1" spc="-4" dirty="0">
                <a:solidFill>
                  <a:srgbClr val="1A73E8"/>
                </a:solidFill>
                <a:latin typeface="Segoe UI"/>
                <a:ea typeface="Segoe UI"/>
                <a:cs typeface="Segoe UI"/>
              </a:rPr>
              <a:t>Felis catus</a:t>
            </a:r>
            <a:endParaRPr lang="en-US" sz="1300" dirty="0"/>
          </a:p>
        </p:txBody>
      </p:sp>
      <p:sp>
        <p:nvSpPr>
          <p:cNvPr id="8" name="Text: домашняя кошка"/>
          <p:cNvSpPr txBox="1"/>
          <p:nvPr/>
        </p:nvSpPr>
        <p:spPr>
          <a:xfrm>
            <a:off x="933450" y="4253845"/>
            <a:ext cx="1295400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домашняя кошка</a:t>
            </a:r>
            <a:endParaRPr lang="en-US" sz="1300" dirty="0"/>
          </a:p>
        </p:txBody>
      </p:sp>
      <p:sp>
        <p:nvSpPr>
          <p:cNvPr id="9" name="Rounded Rectangle"/>
          <p:cNvSpPr/>
          <p:nvPr/>
        </p:nvSpPr>
        <p:spPr>
          <a:xfrm>
            <a:off x="4363442" y="3808710"/>
            <a:ext cx="3465016" cy="840680"/>
          </a:xfrm>
          <a:prstGeom prst="roundRect">
            <a:avLst>
              <a:gd name="adj" fmla="val 17751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0" name="Text: Rosa canina"/>
          <p:cNvSpPr txBox="1"/>
          <p:nvPr/>
        </p:nvSpPr>
        <p:spPr>
          <a:xfrm>
            <a:off x="4531717" y="3951585"/>
            <a:ext cx="889000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1" spc="-4" dirty="0">
                <a:solidFill>
                  <a:srgbClr val="EA4335"/>
                </a:solidFill>
                <a:latin typeface="Segoe UI"/>
                <a:ea typeface="Segoe UI"/>
                <a:cs typeface="Segoe UI"/>
              </a:rPr>
              <a:t>Rosa canina</a:t>
            </a:r>
            <a:endParaRPr lang="en-US" sz="1300" dirty="0"/>
          </a:p>
        </p:txBody>
      </p:sp>
      <p:sp>
        <p:nvSpPr>
          <p:cNvPr id="11" name="Text: шиповник"/>
          <p:cNvSpPr txBox="1"/>
          <p:nvPr/>
        </p:nvSpPr>
        <p:spPr>
          <a:xfrm>
            <a:off x="4531717" y="4253845"/>
            <a:ext cx="776784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шиповник</a:t>
            </a:r>
            <a:endParaRPr lang="en-US" sz="1300" dirty="0"/>
          </a:p>
        </p:txBody>
      </p:sp>
      <p:sp>
        <p:nvSpPr>
          <p:cNvPr id="12" name="Rounded Rectangle"/>
          <p:cNvSpPr/>
          <p:nvPr/>
        </p:nvSpPr>
        <p:spPr>
          <a:xfrm>
            <a:off x="7961809" y="3808710"/>
            <a:ext cx="3465016" cy="840680"/>
          </a:xfrm>
          <a:prstGeom prst="roundRect">
            <a:avLst>
              <a:gd name="adj" fmla="val 17751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3" name="Text: Homo sapiens"/>
          <p:cNvSpPr txBox="1"/>
          <p:nvPr/>
        </p:nvSpPr>
        <p:spPr>
          <a:xfrm>
            <a:off x="8130084" y="3951585"/>
            <a:ext cx="1040011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1" spc="-4" dirty="0">
                <a:solidFill>
                  <a:srgbClr val="34A853"/>
                </a:solidFill>
                <a:latin typeface="Segoe UI"/>
                <a:ea typeface="Segoe UI"/>
                <a:cs typeface="Segoe UI"/>
              </a:rPr>
              <a:t>Homo sapiens</a:t>
            </a:r>
            <a:endParaRPr lang="en-US" sz="1300" dirty="0"/>
          </a:p>
        </p:txBody>
      </p:sp>
      <p:sp>
        <p:nvSpPr>
          <p:cNvPr id="14" name="Text: человек разумный"/>
          <p:cNvSpPr txBox="1"/>
          <p:nvPr/>
        </p:nvSpPr>
        <p:spPr>
          <a:xfrm>
            <a:off x="8130084" y="4253845"/>
            <a:ext cx="1415157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человек разумный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1703388"/>
            <a:ext cx="1097459" cy="2540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3" name="Text: как это устроено"/>
          <p:cNvSpPr txBox="1"/>
          <p:nvPr/>
        </p:nvSpPr>
        <p:spPr>
          <a:xfrm>
            <a:off x="876300" y="1741488"/>
            <a:ext cx="868859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32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как это устроено</a:t>
            </a:r>
            <a:endParaRPr lang="en-US" sz="800" dirty="0"/>
          </a:p>
        </p:txBody>
      </p:sp>
      <p:sp>
        <p:nvSpPr>
          <p:cNvPr id="4" name="Text: Лестница живого мира"/>
          <p:cNvSpPr txBox="1"/>
          <p:nvPr/>
        </p:nvSpPr>
        <p:spPr>
          <a:xfrm>
            <a:off x="762000" y="2147888"/>
            <a:ext cx="3479304" cy="3492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Лестница живого мира</a:t>
            </a:r>
            <a:endParaRPr lang="en-US" sz="2500" dirty="0"/>
          </a:p>
        </p:txBody>
      </p:sp>
      <p:sp>
        <p:nvSpPr>
          <p:cNvPr id="5" name="Text: Живой мир Линней расположил по группам о"/>
          <p:cNvSpPr txBox="1"/>
          <p:nvPr/>
        </p:nvSpPr>
        <p:spPr>
          <a:xfrm>
            <a:off x="762000" y="2595563"/>
            <a:ext cx="6495058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Живой мир Линней расположил по группам одна внутри другой — как матрёшки.</a:t>
            </a:r>
            <a:endParaRPr lang="en-US" sz="1350" dirty="0"/>
          </a:p>
        </p:txBody>
      </p:sp>
      <p:sp>
        <p:nvSpPr>
          <p:cNvPr id="6" name="Rounded Rectangle"/>
          <p:cNvSpPr/>
          <p:nvPr/>
        </p:nvSpPr>
        <p:spPr>
          <a:xfrm>
            <a:off x="765175" y="3049588"/>
            <a:ext cx="10661650" cy="463550"/>
          </a:xfrm>
          <a:prstGeom prst="roundRect">
            <a:avLst>
              <a:gd name="adj" fmla="val 26712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7" name="Rounded Rectangle"/>
          <p:cNvSpPr/>
          <p:nvPr/>
        </p:nvSpPr>
        <p:spPr>
          <a:xfrm>
            <a:off x="908050" y="3148013"/>
            <a:ext cx="526653" cy="2667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8" name="Text: класс"/>
          <p:cNvSpPr txBox="1"/>
          <p:nvPr/>
        </p:nvSpPr>
        <p:spPr>
          <a:xfrm>
            <a:off x="1009650" y="3173413"/>
            <a:ext cx="32345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класс</a:t>
            </a:r>
            <a:endParaRPr lang="en-US" sz="1000" dirty="0"/>
          </a:p>
        </p:txBody>
      </p:sp>
      <p:sp>
        <p:nvSpPr>
          <p:cNvPr id="9" name="Text: самая большая группа похожих существ"/>
          <p:cNvSpPr txBox="1"/>
          <p:nvPr/>
        </p:nvSpPr>
        <p:spPr>
          <a:xfrm>
            <a:off x="1561703" y="3175278"/>
            <a:ext cx="3051671" cy="2146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самая большая группа похожих существ</a:t>
            </a:r>
            <a:endParaRPr lang="en-US" sz="1300" dirty="0"/>
          </a:p>
        </p:txBody>
      </p:sp>
      <p:sp>
        <p:nvSpPr>
          <p:cNvPr id="10" name="Rounded Rectangle"/>
          <p:cNvSpPr/>
          <p:nvPr/>
        </p:nvSpPr>
        <p:spPr>
          <a:xfrm>
            <a:off x="765175" y="3595688"/>
            <a:ext cx="10661650" cy="463550"/>
          </a:xfrm>
          <a:prstGeom prst="roundRect">
            <a:avLst>
              <a:gd name="adj" fmla="val 26712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1" name="Rounded Rectangle"/>
          <p:cNvSpPr/>
          <p:nvPr/>
        </p:nvSpPr>
        <p:spPr>
          <a:xfrm>
            <a:off x="908050" y="3694113"/>
            <a:ext cx="1175445" cy="26670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</p:sp>
      <p:sp>
        <p:nvSpPr>
          <p:cNvPr id="12" name="Text: отряд / порядок"/>
          <p:cNvSpPr txBox="1"/>
          <p:nvPr/>
        </p:nvSpPr>
        <p:spPr>
          <a:xfrm>
            <a:off x="1009650" y="3719513"/>
            <a:ext cx="972245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отряд / порядок</a:t>
            </a:r>
            <a:endParaRPr lang="en-US" sz="1000" dirty="0"/>
          </a:p>
        </p:txBody>
      </p:sp>
      <p:sp>
        <p:nvSpPr>
          <p:cNvPr id="13" name="Text: поменьше, внутри класса"/>
          <p:cNvSpPr txBox="1"/>
          <p:nvPr/>
        </p:nvSpPr>
        <p:spPr>
          <a:xfrm>
            <a:off x="2210495" y="3721378"/>
            <a:ext cx="1918692" cy="2146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поменьше, внутри класса</a:t>
            </a:r>
            <a:endParaRPr lang="en-US" sz="1300" dirty="0"/>
          </a:p>
        </p:txBody>
      </p:sp>
      <p:sp>
        <p:nvSpPr>
          <p:cNvPr id="14" name="Rounded Rectangle"/>
          <p:cNvSpPr/>
          <p:nvPr/>
        </p:nvSpPr>
        <p:spPr>
          <a:xfrm>
            <a:off x="765175" y="4141788"/>
            <a:ext cx="10661650" cy="463550"/>
          </a:xfrm>
          <a:prstGeom prst="roundRect">
            <a:avLst>
              <a:gd name="adj" fmla="val 26712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5" name="Rounded Rectangle"/>
          <p:cNvSpPr/>
          <p:nvPr/>
        </p:nvSpPr>
        <p:spPr>
          <a:xfrm>
            <a:off x="908050" y="4240213"/>
            <a:ext cx="426343" cy="26670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</p:sp>
      <p:sp>
        <p:nvSpPr>
          <p:cNvPr id="16" name="Text: род"/>
          <p:cNvSpPr txBox="1"/>
          <p:nvPr/>
        </p:nvSpPr>
        <p:spPr>
          <a:xfrm>
            <a:off x="1009650" y="4265613"/>
            <a:ext cx="22314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род</a:t>
            </a:r>
            <a:endParaRPr lang="en-US" sz="1000" dirty="0"/>
          </a:p>
        </p:txBody>
      </p:sp>
      <p:sp>
        <p:nvSpPr>
          <p:cNvPr id="17" name="Text: очень похожие друг на друга"/>
          <p:cNvSpPr txBox="1"/>
          <p:nvPr/>
        </p:nvSpPr>
        <p:spPr>
          <a:xfrm>
            <a:off x="1461393" y="4267478"/>
            <a:ext cx="2216249" cy="2146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очень похожие друг на друга</a:t>
            </a:r>
            <a:endParaRPr lang="en-US" sz="1300" dirty="0"/>
          </a:p>
        </p:txBody>
      </p:sp>
      <p:sp>
        <p:nvSpPr>
          <p:cNvPr id="18" name="Rounded Rectangle"/>
          <p:cNvSpPr/>
          <p:nvPr/>
        </p:nvSpPr>
        <p:spPr>
          <a:xfrm>
            <a:off x="765175" y="4687888"/>
            <a:ext cx="10661650" cy="463550"/>
          </a:xfrm>
          <a:prstGeom prst="roundRect">
            <a:avLst>
              <a:gd name="adj" fmla="val 26712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9" name="Rounded Rectangle"/>
          <p:cNvSpPr/>
          <p:nvPr/>
        </p:nvSpPr>
        <p:spPr>
          <a:xfrm>
            <a:off x="908050" y="4786313"/>
            <a:ext cx="421977" cy="2667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</p:sp>
      <p:sp>
        <p:nvSpPr>
          <p:cNvPr id="20" name="Text: вид"/>
          <p:cNvSpPr txBox="1"/>
          <p:nvPr/>
        </p:nvSpPr>
        <p:spPr>
          <a:xfrm>
            <a:off x="1009650" y="4811713"/>
            <a:ext cx="218777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вид</a:t>
            </a:r>
            <a:endParaRPr lang="en-US" sz="1000" dirty="0"/>
          </a:p>
        </p:txBody>
      </p:sp>
      <p:sp>
        <p:nvSpPr>
          <p:cNvPr id="21" name="Text: самая маленькая группа — одно существо"/>
          <p:cNvSpPr txBox="1"/>
          <p:nvPr/>
        </p:nvSpPr>
        <p:spPr>
          <a:xfrm>
            <a:off x="1457027" y="4813578"/>
            <a:ext cx="3216573" cy="2146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самая маленькая группа — одно существо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1960364"/>
            <a:ext cx="1193006" cy="25400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</p:sp>
      <p:sp>
        <p:nvSpPr>
          <p:cNvPr id="3" name="Text: интересные факты"/>
          <p:cNvSpPr txBox="1"/>
          <p:nvPr/>
        </p:nvSpPr>
        <p:spPr>
          <a:xfrm>
            <a:off x="876300" y="1998464"/>
            <a:ext cx="964406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32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интересные факты</a:t>
            </a:r>
            <a:endParaRPr lang="en-US" sz="800" dirty="0"/>
          </a:p>
        </p:txBody>
      </p:sp>
      <p:sp>
        <p:nvSpPr>
          <p:cNvPr id="4" name="Text: Знаешь ли ты?"/>
          <p:cNvSpPr txBox="1"/>
          <p:nvPr/>
        </p:nvSpPr>
        <p:spPr>
          <a:xfrm>
            <a:off x="762000" y="2417564"/>
            <a:ext cx="2182416" cy="3492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Знаешь ли ты?</a:t>
            </a:r>
            <a:endParaRPr lang="en-US" sz="2500" dirty="0"/>
          </a:p>
        </p:txBody>
      </p:sp>
      <p:sp>
        <p:nvSpPr>
          <p:cNvPr id="5" name="Rounded Rectangle"/>
          <p:cNvSpPr/>
          <p:nvPr/>
        </p:nvSpPr>
        <p:spPr>
          <a:xfrm>
            <a:off x="765175" y="2896989"/>
            <a:ext cx="10661650" cy="427930"/>
          </a:xfrm>
          <a:prstGeom prst="roundRect">
            <a:avLst>
              <a:gd name="adj" fmla="val 28936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6" name="Rounded Rectangle"/>
          <p:cNvSpPr/>
          <p:nvPr/>
        </p:nvSpPr>
        <p:spPr>
          <a:xfrm>
            <a:off x="895350" y="3047405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EA4335"/>
          </a:solidFill>
          <a:ln>
            <a:noFill/>
          </a:ln>
        </p:spPr>
      </p:sp>
      <p:sp>
        <p:nvSpPr>
          <p:cNvPr id="7" name="Text: Линней назвал человека Homo sapiens — «ч"/>
          <p:cNvSpPr txBox="1"/>
          <p:nvPr/>
        </p:nvSpPr>
        <p:spPr>
          <a:xfrm>
            <a:off x="1123950" y="2986524"/>
            <a:ext cx="4821833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Линней назвал человека Homo sapiens — «человек разумный».</a:t>
            </a:r>
            <a:endParaRPr lang="en-US" sz="1300" dirty="0"/>
          </a:p>
        </p:txBody>
      </p:sp>
      <p:sp>
        <p:nvSpPr>
          <p:cNvPr id="8" name="Rounded Rectangle"/>
          <p:cNvSpPr/>
          <p:nvPr/>
        </p:nvSpPr>
        <p:spPr>
          <a:xfrm>
            <a:off x="765175" y="3420170"/>
            <a:ext cx="10661650" cy="427930"/>
          </a:xfrm>
          <a:prstGeom prst="roundRect">
            <a:avLst>
              <a:gd name="adj" fmla="val 28936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9" name="Rounded Rectangle"/>
          <p:cNvSpPr/>
          <p:nvPr/>
        </p:nvSpPr>
        <p:spPr>
          <a:xfrm>
            <a:off x="895350" y="3570585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10" name="Text: Книга «Система природы» (1735) описывает"/>
          <p:cNvSpPr txBox="1"/>
          <p:nvPr/>
        </p:nvSpPr>
        <p:spPr>
          <a:xfrm>
            <a:off x="1123950" y="3509705"/>
            <a:ext cx="4647009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Книга «Система природы» (1735) описывает весь живой мир.</a:t>
            </a:r>
            <a:endParaRPr lang="en-US" sz="1300" dirty="0"/>
          </a:p>
        </p:txBody>
      </p:sp>
      <p:sp>
        <p:nvSpPr>
          <p:cNvPr id="11" name="Rounded Rectangle"/>
          <p:cNvSpPr/>
          <p:nvPr/>
        </p:nvSpPr>
        <p:spPr>
          <a:xfrm>
            <a:off x="765175" y="3943350"/>
            <a:ext cx="10661650" cy="427930"/>
          </a:xfrm>
          <a:prstGeom prst="roundRect">
            <a:avLst>
              <a:gd name="adj" fmla="val 28936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2" name="Rounded Rectangle"/>
          <p:cNvSpPr/>
          <p:nvPr/>
        </p:nvSpPr>
        <p:spPr>
          <a:xfrm>
            <a:off x="895350" y="4093766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34A853"/>
          </a:solidFill>
          <a:ln>
            <a:noFill/>
          </a:ln>
        </p:spPr>
      </p:sp>
      <p:sp>
        <p:nvSpPr>
          <p:cNvPr id="13" name="Text: «Виды растений» (1753) — описания всех и"/>
          <p:cNvSpPr txBox="1"/>
          <p:nvPr/>
        </p:nvSpPr>
        <p:spPr>
          <a:xfrm>
            <a:off x="1123950" y="4032885"/>
            <a:ext cx="4729659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«Виды растений» (1753) — описания всех известных растений.</a:t>
            </a:r>
            <a:endParaRPr lang="en-US" sz="1300" dirty="0"/>
          </a:p>
        </p:txBody>
      </p:sp>
      <p:sp>
        <p:nvSpPr>
          <p:cNvPr id="14" name="Rounded Rectangle"/>
          <p:cNvSpPr/>
          <p:nvPr/>
        </p:nvSpPr>
        <p:spPr>
          <a:xfrm>
            <a:off x="765175" y="4466530"/>
            <a:ext cx="10661650" cy="427930"/>
          </a:xfrm>
          <a:prstGeom prst="roundRect">
            <a:avLst>
              <a:gd name="adj" fmla="val 28936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5" name="Rounded Rectangle"/>
          <p:cNvSpPr/>
          <p:nvPr/>
        </p:nvSpPr>
        <p:spPr>
          <a:xfrm>
            <a:off x="895350" y="4616946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FBBC04"/>
          </a:solidFill>
          <a:ln>
            <a:noFill/>
          </a:ln>
        </p:spPr>
      </p:sp>
      <p:sp>
        <p:nvSpPr>
          <p:cNvPr id="16" name="Text: Символы ♂ и ♀ для мужского и женского пр"/>
          <p:cNvSpPr txBox="1"/>
          <p:nvPr/>
        </p:nvSpPr>
        <p:spPr>
          <a:xfrm>
            <a:off x="1123950" y="4556065"/>
            <a:ext cx="4838105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Символы ♂ и ♀ для мужского и женского придумал именно он.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1153220"/>
            <a:ext cx="448965" cy="2540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</p:sp>
      <p:sp>
        <p:nvSpPr>
          <p:cNvPr id="3" name="Text: итог"/>
          <p:cNvSpPr txBox="1"/>
          <p:nvPr/>
        </p:nvSpPr>
        <p:spPr>
          <a:xfrm>
            <a:off x="876300" y="1191320"/>
            <a:ext cx="220365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32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итог</a:t>
            </a:r>
            <a:endParaRPr lang="en-US" sz="800" dirty="0"/>
          </a:p>
        </p:txBody>
      </p:sp>
      <p:sp>
        <p:nvSpPr>
          <p:cNvPr id="4" name="Text: Спасибо за внимание!"/>
          <p:cNvSpPr txBox="1"/>
          <p:nvPr/>
        </p:nvSpPr>
        <p:spPr>
          <a:xfrm>
            <a:off x="4404717" y="1646039"/>
            <a:ext cx="3382466" cy="11733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spc="-88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Спасибо</a:t>
            </a:r>
            <a:br>
              <a:rPr lang="en-US" sz="4400"/>
            </a:br>
            <a:r>
              <a:rPr lang="en-US" sz="4400" b="1" spc="-88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за внимание!</a:t>
            </a:r>
            <a:endParaRPr lang="en-US" sz="4400" dirty="0"/>
          </a:p>
        </p:txBody>
      </p:sp>
      <p:sp>
        <p:nvSpPr>
          <p:cNvPr id="5" name="Text: Систему Линнея используют учёные всего м"/>
          <p:cNvSpPr txBox="1"/>
          <p:nvPr/>
        </p:nvSpPr>
        <p:spPr>
          <a:xfrm>
            <a:off x="3533279" y="2891730"/>
            <a:ext cx="5125442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Систему Линнея используют учёные всего мира и по сей день.</a:t>
            </a:r>
            <a:endParaRPr lang="en-US" sz="1400" dirty="0"/>
          </a:p>
        </p:txBody>
      </p:sp>
      <p:sp>
        <p:nvSpPr>
          <p:cNvPr id="6" name="Rounded Rectangle"/>
          <p:cNvSpPr/>
          <p:nvPr/>
        </p:nvSpPr>
        <p:spPr>
          <a:xfrm>
            <a:off x="5146675" y="3345755"/>
            <a:ext cx="1898650" cy="2355850"/>
          </a:xfrm>
          <a:prstGeom prst="roundRect">
            <a:avLst>
              <a:gd name="adj" fmla="val 7860"/>
            </a:avLst>
          </a:prstGeom>
          <a:noFill/>
          <a:ln w="6350" cap="flat" cmpd="sng" algn="ctr">
            <a:solidFill>
              <a:srgbClr val="E8EAED"/>
            </a:solidFill>
            <a:miter lim="800000"/>
          </a:ln>
        </p:spPr>
      </p:sp>
      <p:pic>
        <p:nvPicPr>
          <p:cNvPr id="7" name="Image: Портрет Линнея"/>
          <p:cNvPicPr>
            <a:picLocks noChangeAspect="1"/>
          </p:cNvPicPr>
          <p:nvPr/>
        </p:nvPicPr>
        <p:blipFill>
          <a:blip r:embed="rId2"/>
          <a:srcRect l="0" t="949" r="0" b="949"/>
          <a:stretch>
            <a:fillRect/>
          </a:stretch>
        </p:blipFill>
        <p:spPr>
          <a:xfrm>
            <a:off x="5149850" y="3348930"/>
            <a:ext cx="1892300" cy="23495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